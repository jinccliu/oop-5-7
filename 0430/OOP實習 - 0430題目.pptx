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4"/>
  </p:sldMasterIdLst>
  <p:notesMasterIdLst>
    <p:notesMasterId r:id="rId10"/>
  </p:notesMasterIdLst>
  <p:handoutMasterIdLst>
    <p:handoutMasterId r:id="rId11"/>
  </p:handoutMasterIdLst>
  <p:sldIdLst>
    <p:sldId id="267" r:id="rId5"/>
    <p:sldId id="272" r:id="rId6"/>
    <p:sldId id="276" r:id="rId7"/>
    <p:sldId id="275" r:id="rId8"/>
    <p:sldId id="268" r:id="rId9"/>
  </p:sldIdLst>
  <p:sldSz cx="12188825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898A007A-CCEC-4FDD-8EB1-2E6E239394C0}">
          <p14:sldIdLst>
            <p14:sldId id="267"/>
            <p14:sldId id="272"/>
            <p14:sldId id="276"/>
            <p14:sldId id="275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599" autoAdjust="0"/>
  </p:normalViewPr>
  <p:slideViewPr>
    <p:cSldViewPr>
      <p:cViewPr varScale="1">
        <p:scale>
          <a:sx n="64" d="100"/>
          <a:sy n="64" d="100"/>
        </p:scale>
        <p:origin x="752" y="48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100" d="100"/>
          <a:sy n="100" d="100"/>
        </p:scale>
        <p:origin x="3552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TW" altLang="en-US" dirty="0">
              <a:latin typeface="細明體" panose="02020509000000000000" pitchFamily="49" charset="-120"/>
              <a:ea typeface="細明體" panose="02020509000000000000" pitchFamily="49" charset="-120"/>
            </a:endParaRPr>
          </a:p>
        </p:txBody>
      </p:sp>
      <p:sp>
        <p:nvSpPr>
          <p:cNvPr id="3" name="日期預留位置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A1CEFD47-19E1-481F-8F2F-C517C0D071C0}" type="datetime1">
              <a:rPr lang="zh-TW" altLang="en-US" smtClean="0">
                <a:latin typeface="細明體" panose="02020509000000000000" pitchFamily="49" charset="-120"/>
                <a:ea typeface="細明體" panose="02020509000000000000" pitchFamily="49" charset="-120"/>
              </a:rPr>
              <a:pPr algn="r" rtl="0"/>
              <a:t>2026/4/30</a:t>
            </a:fld>
            <a:endParaRPr lang="zh-TW" altLang="en-US" dirty="0">
              <a:latin typeface="細明體" panose="02020509000000000000" pitchFamily="49" charset="-120"/>
              <a:ea typeface="細明體" panose="02020509000000000000" pitchFamily="49" charset="-120"/>
            </a:endParaRPr>
          </a:p>
        </p:txBody>
      </p:sp>
      <p:sp>
        <p:nvSpPr>
          <p:cNvPr id="4" name="頁尾預留位置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TW" altLang="en-US" dirty="0">
              <a:latin typeface="細明體" panose="02020509000000000000" pitchFamily="49" charset="-120"/>
              <a:ea typeface="細明體" panose="02020509000000000000" pitchFamily="49" charset="-120"/>
            </a:endParaRPr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1114579-D02A-4B51-B5DF-8EC449F77AC7}" type="slidenum">
              <a:rPr lang="en-US" altLang="zh-TW" smtClean="0">
                <a:latin typeface="細明體" panose="02020509000000000000" pitchFamily="49" charset="-120"/>
                <a:ea typeface="細明體" panose="02020509000000000000" pitchFamily="49" charset="-120"/>
              </a:rPr>
              <a:pPr algn="r" rtl="0"/>
              <a:t>‹#›</a:t>
            </a:fld>
            <a:endParaRPr lang="zh-TW" altLang="en-US" dirty="0">
              <a:latin typeface="細明體" panose="02020509000000000000" pitchFamily="49" charset="-120"/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6812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影像預留位置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dirty="0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dirty="0"/>
              <a:t>按一下以編輯母片文字樣式</a:t>
            </a:r>
          </a:p>
          <a:p>
            <a:pPr lvl="1" rtl="0"/>
            <a:r>
              <a:rPr lang="zh-TW" altLang="en-US" dirty="0"/>
              <a:t>第二層</a:t>
            </a:r>
          </a:p>
          <a:p>
            <a:pPr lvl="2" rtl="0"/>
            <a:r>
              <a:rPr lang="zh-TW" altLang="en-US" dirty="0"/>
              <a:t>第三層</a:t>
            </a:r>
          </a:p>
          <a:p>
            <a:pPr lvl="3" rtl="0"/>
            <a:r>
              <a:rPr lang="zh-TW" altLang="en-US" dirty="0"/>
              <a:t>第四層</a:t>
            </a:r>
          </a:p>
          <a:p>
            <a:pPr lvl="4" rtl="0"/>
            <a:r>
              <a:rPr lang="zh-TW" altLang="en-US" dirty="0"/>
              <a:t>第五層</a:t>
            </a:r>
          </a:p>
        </p:txBody>
      </p:sp>
      <p:sp>
        <p:nvSpPr>
          <p:cNvPr id="8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9" name="日期預留位置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pPr algn="r"/>
            <a:fld id="{A1CEFD47-19E1-481F-8F2F-C517C0D071C0}" type="datetime1">
              <a:rPr lang="zh-TW" altLang="en-US" smtClean="0"/>
              <a:pPr algn="r"/>
              <a:t>2026/4/30</a:t>
            </a:fld>
            <a:endParaRPr lang="zh-TW" altLang="en-US" dirty="0"/>
          </a:p>
        </p:txBody>
      </p:sp>
      <p:sp>
        <p:nvSpPr>
          <p:cNvPr id="10" name="頁尾預留位置 3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11" name="投影片編號預留位置 4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pPr algn="r"/>
            <a:fld id="{01114579-D02A-4B51-B5DF-8EC449F77AC7}" type="slidenum">
              <a:rPr lang="en-US" altLang="zh-TW" smtClean="0"/>
              <a:pPr algn="r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7426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細明體" panose="02020509000000000000" pitchFamily="49" charset="-120"/>
        <a:ea typeface="細明體" panose="02020509000000000000" pitchFamily="49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細明體" panose="02020509000000000000" pitchFamily="49" charset="-120"/>
        <a:ea typeface="細明體" panose="02020509000000000000" pitchFamily="49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細明體" panose="02020509000000000000" pitchFamily="49" charset="-120"/>
        <a:ea typeface="細明體" panose="02020509000000000000" pitchFamily="49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細明體" panose="02020509000000000000" pitchFamily="49" charset="-120"/>
        <a:ea typeface="細明體" panose="02020509000000000000" pitchFamily="49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細明體" panose="02020509000000000000" pitchFamily="49" charset="-120"/>
        <a:ea typeface="細明體" panose="02020509000000000000" pitchFamily="49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 algn="r" rtl="0"/>
            <a:fld id="{C6074690-7256-4BB9-AC0F-97AEAE8CDEC2}" type="slidenum">
              <a:rPr lang="en-US" altLang="zh-TW" smtClean="0"/>
              <a:pPr algn="r" rtl="0"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56487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6675" y="2404534"/>
            <a:ext cx="7764913" cy="1646302"/>
          </a:xfrm>
        </p:spPr>
        <p:txBody>
          <a:bodyPr anchor="b">
            <a:noAutofit/>
          </a:bodyPr>
          <a:lstStyle>
            <a:lvl1pPr algn="r">
              <a:defRPr sz="5398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6675" y="4050834"/>
            <a:ext cx="7764913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D15A-6971-426D-BFFF-3977F0C6C215}" type="datetime1">
              <a:rPr lang="zh-TW" altLang="en-US" smtClean="0"/>
              <a:pPr/>
              <a:t>2026/4/30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1261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1F71-A558-4E4C-99B9-26EA57BBDA86}" type="datetime1">
              <a:rPr lang="zh-TW" altLang="en-US" smtClean="0"/>
              <a:pPr/>
              <a:t>2026/4/30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114357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2700868"/>
            <a:ext cx="8594429" cy="1826581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860400"/>
          </a:xfrm>
        </p:spPr>
        <p:txBody>
          <a:bodyPr anchor="t"/>
          <a:lstStyle>
            <a:lvl1pPr marL="0" indent="0" algn="l">
              <a:buNone/>
              <a:defRPr sz="19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F7E2-A267-4BC3-9709-C990FEFB23EB}" type="datetime1">
              <a:rPr lang="zh-TW" altLang="en-US" smtClean="0"/>
              <a:pPr/>
              <a:t>2026/4/30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7669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158" y="2160589"/>
            <a:ext cx="4182945" cy="388077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8645" y="2160590"/>
            <a:ext cx="4182944" cy="388077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1F71-A558-4E4C-99B9-26EA57BBDA86}" type="datetime1">
              <a:rPr lang="zh-TW" altLang="en-US" smtClean="0"/>
              <a:pPr/>
              <a:t>2026/4/30</a:t>
            </a:fld>
            <a:endParaRPr lang="zh-TW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252725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570" y="2160983"/>
            <a:ext cx="418453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570" y="2737246"/>
            <a:ext cx="418453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7058" y="2160983"/>
            <a:ext cx="4184528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7059" y="2737246"/>
            <a:ext cx="418452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1F71-A558-4E4C-99B9-26EA57BBDA86}" type="datetime1">
              <a:rPr lang="zh-TW" altLang="en-US" smtClean="0"/>
              <a:pPr/>
              <a:t>2026/4/30</a:t>
            </a:fld>
            <a:endParaRPr lang="zh-TW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04324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26C8B-19A4-414D-9AEB-26501743E621}" type="datetime1">
              <a:rPr lang="zh-TW" altLang="en-US" smtClean="0"/>
              <a:pPr/>
              <a:t>2026/4/30</a:t>
            </a:fld>
            <a:endParaRPr lang="zh-TW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zh-TW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F28FB93-0A08-4E7D-8E63-9EFA29F1E093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8124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26C8B-19A4-414D-9AEB-26501743E621}" type="datetime1">
              <a:rPr lang="zh-TW" altLang="en-US" smtClean="0"/>
              <a:pPr/>
              <a:t>2026/4/30</a:t>
            </a:fld>
            <a:endParaRPr lang="zh-TW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F28FB93-0A08-4E7D-8E63-9EFA29F1E093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97047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1498604"/>
            <a:ext cx="3853524" cy="1278466"/>
          </a:xfrm>
        </p:spPr>
        <p:txBody>
          <a:bodyPr anchor="b">
            <a:normAutofit/>
          </a:bodyPr>
          <a:lstStyle>
            <a:lvl1pPr>
              <a:defRPr sz="199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9222" y="514925"/>
            <a:ext cx="4512366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2777069"/>
            <a:ext cx="3853524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8" indent="0">
              <a:buNone/>
              <a:defRPr sz="1000"/>
            </a:lvl4pPr>
            <a:lvl5pPr marL="1827703" indent="0">
              <a:buNone/>
              <a:defRPr sz="1000"/>
            </a:lvl5pPr>
            <a:lvl6pPr marL="2284628" indent="0">
              <a:buNone/>
              <a:defRPr sz="1000"/>
            </a:lvl6pPr>
            <a:lvl7pPr marL="2741554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26C8B-19A4-414D-9AEB-26501743E621}" type="datetime1">
              <a:rPr lang="zh-TW" altLang="en-US" smtClean="0"/>
              <a:pPr/>
              <a:t>2026/4/30</a:t>
            </a:fld>
            <a:endParaRPr lang="zh-TW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zh-TW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F28FB93-0A08-4E7D-8E63-9EFA29F1E093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14274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4800600"/>
            <a:ext cx="8594428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158" y="609600"/>
            <a:ext cx="8594429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5367338"/>
            <a:ext cx="8594428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4A8F3-31E9-487B-8442-CA93E2C5E389}" type="datetime1">
              <a:rPr lang="zh-TW" altLang="en-US" smtClean="0"/>
              <a:pPr/>
              <a:t>2026/4/30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00305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609600"/>
            <a:ext cx="8594429" cy="3403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1F71-A558-4E4C-99B9-26EA57BBDA86}" type="datetime1">
              <a:rPr lang="zh-TW" altLang="en-US" smtClean="0"/>
              <a:pPr/>
              <a:t>2026/4/30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406284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5783" y="3632200"/>
            <a:ext cx="7222643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1F71-A558-4E4C-99B9-26EA57BBDA86}" type="datetime1">
              <a:rPr lang="zh-TW" altLang="en-US" smtClean="0"/>
              <a:pPr/>
              <a:t>2026/4/30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3343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1931988"/>
            <a:ext cx="8594429" cy="2595460"/>
          </a:xfrm>
        </p:spPr>
        <p:txBody>
          <a:bodyPr anchor="b">
            <a:normAutofit/>
          </a:bodyPr>
          <a:lstStyle>
            <a:lvl1pPr algn="l">
              <a:defRPr sz="4399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1F71-A558-4E4C-99B9-26EA57BBDA86}" type="datetime1">
              <a:rPr lang="zh-TW" altLang="en-US" smtClean="0"/>
              <a:pPr/>
              <a:t>2026/4/30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4688670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1F71-A558-4E4C-99B9-26EA57BBDA86}" type="datetime1">
              <a:rPr lang="zh-TW" altLang="en-US" smtClean="0"/>
              <a:pPr/>
              <a:t>2026/4/30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51730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1" y="609600"/>
            <a:ext cx="858596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1F71-A558-4E4C-99B9-26EA57BBDA86}" type="datetime1">
              <a:rPr lang="zh-TW" altLang="en-US" smtClean="0"/>
              <a:pPr/>
              <a:t>2026/4/30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0335623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26C8B-19A4-414D-9AEB-26501743E621}" type="datetime1">
              <a:rPr lang="zh-TW" altLang="en-US" smtClean="0"/>
              <a:pPr/>
              <a:t>2026/4/30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F28FB93-0A08-4E7D-8E63-9EFA29F1E093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84885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5599" y="609600"/>
            <a:ext cx="130440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159" y="609600"/>
            <a:ext cx="7058311" cy="525145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26C8B-19A4-414D-9AEB-26501743E621}" type="datetime1">
              <a:rPr lang="zh-TW" altLang="en-US" smtClean="0"/>
              <a:pPr/>
              <a:t>2026/4/30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F28FB93-0A08-4E7D-8E63-9EFA29F1E093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80856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8" y="2160590"/>
            <a:ext cx="8594429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3257" y="6041363"/>
            <a:ext cx="9117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61F71-A558-4E4C-99B9-26EA57BBDA86}" type="datetime1">
              <a:rPr lang="zh-TW" altLang="en-US" smtClean="0"/>
              <a:pPr/>
              <a:t>2026/4/30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158" y="6041363"/>
            <a:ext cx="6295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8426" y="6041363"/>
            <a:ext cx="68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F28FB93-0A08-4E7D-8E63-9EFA29F1E093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679721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  <p:sldLayoutId id="2147483799" r:id="rId14"/>
    <p:sldLayoutId id="2147483800" r:id="rId15"/>
    <p:sldLayoutId id="2147483801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063" rtl="0" eaLnBrk="1" latinLnBrk="0" hangingPunct="1">
        <a:spcBef>
          <a:spcPct val="0"/>
        </a:spcBef>
        <a:buNone/>
        <a:defRPr sz="3599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n-US" altLang="zh-TW" b="1" dirty="0">
                <a:latin typeface="+mj-ea"/>
                <a:sym typeface="Salesforce Sans"/>
              </a:rPr>
              <a:t>OOP 0430 </a:t>
            </a:r>
            <a:r>
              <a:rPr lang="zh-TW" altLang="en-US" b="1" dirty="0">
                <a:latin typeface="+mj-ea"/>
                <a:sym typeface="Salesforce Sans"/>
              </a:rPr>
              <a:t>題目</a:t>
            </a:r>
          </a:p>
        </p:txBody>
      </p:sp>
    </p:spTree>
    <p:extLst>
      <p:ext uri="{BB962C8B-B14F-4D97-AF65-F5344CB8AC3E}">
        <p14:creationId xmlns:p14="http://schemas.microsoft.com/office/powerpoint/2010/main" val="2707543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BC47ED-DEA7-4D9D-9623-33C07823D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999" b="1" dirty="0">
                <a:latin typeface="+mn-ea"/>
                <a:ea typeface="+mn-ea"/>
              </a:rPr>
              <a:t>HW1.</a:t>
            </a:r>
            <a:r>
              <a:rPr lang="zh-TW" altLang="en-US" sz="3999" b="1" dirty="0">
                <a:latin typeface="+mn-ea"/>
                <a:ea typeface="+mn-ea"/>
              </a:rPr>
              <a:t>時鐘短針長針角度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C57C70-725D-42AA-8FFD-E7C738168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zh-TW" sz="1999" kern="100" dirty="0">
                <a:cs typeface="Calibri" panose="020F0502020204030204" pitchFamily="34" charset="0"/>
              </a:rPr>
              <a:t>假設現在時鐘上面只有兩根指針：時針與分針，</a:t>
            </a:r>
            <a:r>
              <a:rPr lang="zh-TW" altLang="en-US" sz="1999" kern="100" dirty="0">
                <a:cs typeface="Calibri" panose="020F0502020204030204" pitchFamily="34" charset="0"/>
              </a:rPr>
              <a:t>請寫一個程式計</a:t>
            </a:r>
            <a:r>
              <a:rPr lang="zh-TW" altLang="zh-TW" sz="1999" kern="100" dirty="0">
                <a:cs typeface="Calibri" panose="020F0502020204030204" pitchFamily="34" charset="0"/>
              </a:rPr>
              <a:t>算出任意時間點中時針與分針的角度。兩根指針角度</a:t>
            </a:r>
            <a:r>
              <a:rPr lang="zh-TW" altLang="zh-TW" sz="1999" b="1" kern="100" dirty="0">
                <a:solidFill>
                  <a:srgbClr val="FF0000"/>
                </a:solidFill>
                <a:cs typeface="Calibri" panose="020F0502020204030204" pitchFamily="34" charset="0"/>
              </a:rPr>
              <a:t>不超過</a:t>
            </a:r>
            <a:r>
              <a:rPr lang="en-US" altLang="zh-TW" sz="1999" b="1" kern="100" dirty="0">
                <a:solidFill>
                  <a:srgbClr val="FF0000"/>
                </a:solidFill>
                <a:cs typeface="Calibri" panose="020F0502020204030204" pitchFamily="34" charset="0"/>
              </a:rPr>
              <a:t>180</a:t>
            </a:r>
            <a:r>
              <a:rPr lang="zh-TW" altLang="zh-TW" sz="1999" b="1" kern="100" dirty="0">
                <a:solidFill>
                  <a:srgbClr val="FF0000"/>
                </a:solidFill>
                <a:cs typeface="Calibri" panose="020F0502020204030204" pitchFamily="34" charset="0"/>
              </a:rPr>
              <a:t>度</a:t>
            </a:r>
            <a:r>
              <a:rPr lang="zh-TW" altLang="zh-TW" sz="1999" kern="100" dirty="0">
                <a:cs typeface="Calibri" panose="020F0502020204030204" pitchFamily="34" charset="0"/>
              </a:rPr>
              <a:t>，且時間採用</a:t>
            </a:r>
            <a:r>
              <a:rPr lang="en-US" altLang="zh-TW" sz="1999" kern="100" dirty="0">
                <a:cs typeface="Calibri" panose="020F0502020204030204" pitchFamily="34" charset="0"/>
              </a:rPr>
              <a:t>24</a:t>
            </a:r>
            <a:r>
              <a:rPr lang="zh-TW" altLang="zh-TW" sz="1999" kern="100" dirty="0">
                <a:cs typeface="Calibri" panose="020F0502020204030204" pitchFamily="34" charset="0"/>
              </a:rPr>
              <a:t>小時制。</a:t>
            </a:r>
            <a:endParaRPr lang="zh-TW" altLang="zh-TW" sz="1999" kern="100" dirty="0">
              <a:cs typeface="Times New Roman" panose="02020603050405020304" pitchFamily="18" charset="0"/>
            </a:endParaRPr>
          </a:p>
          <a:p>
            <a:r>
              <a:rPr lang="zh-TW" altLang="zh-TW" sz="1999" kern="100" dirty="0">
                <a:cs typeface="Calibri" panose="020F0502020204030204" pitchFamily="34" charset="0"/>
              </a:rPr>
              <a:t>輸入</a:t>
            </a:r>
            <a:r>
              <a:rPr lang="zh-TW" altLang="zh-TW" sz="1999" b="1" kern="100" dirty="0">
                <a:cs typeface="Calibri" panose="020F0502020204030204" pitchFamily="34" charset="0"/>
              </a:rPr>
              <a:t>小時</a:t>
            </a:r>
            <a:r>
              <a:rPr lang="zh-TW" altLang="zh-TW" sz="1999" kern="100" dirty="0">
                <a:cs typeface="Calibri" panose="020F0502020204030204" pitchFamily="34" charset="0"/>
              </a:rPr>
              <a:t>與</a:t>
            </a:r>
            <a:r>
              <a:rPr lang="zh-TW" altLang="zh-TW" sz="1999" b="1" kern="100" dirty="0">
                <a:cs typeface="Calibri" panose="020F0502020204030204" pitchFamily="34" charset="0"/>
              </a:rPr>
              <a:t>分鐘</a:t>
            </a:r>
            <a:r>
              <a:rPr lang="zh-TW" altLang="zh-TW" sz="1999" kern="100" dirty="0">
                <a:cs typeface="Calibri" panose="020F0502020204030204" pitchFamily="34" charset="0"/>
              </a:rPr>
              <a:t>各自的數字。</a:t>
            </a:r>
            <a:endParaRPr lang="zh-TW" altLang="zh-TW" sz="1999" kern="100" dirty="0">
              <a:cs typeface="Times New Roman" panose="02020603050405020304" pitchFamily="18" charset="0"/>
            </a:endParaRPr>
          </a:p>
          <a:p>
            <a:r>
              <a:rPr lang="zh-TW" altLang="zh-TW" sz="1999" kern="100" dirty="0">
                <a:cs typeface="Calibri" panose="020F0502020204030204" pitchFamily="34" charset="0"/>
              </a:rPr>
              <a:t>請輸出對應輸入時間的時針和分針間的最小正角度。若輸出有小數點，</a:t>
            </a:r>
            <a:r>
              <a:rPr lang="zh-TW" altLang="en-US" sz="1999" b="1" kern="100" dirty="0">
                <a:solidFill>
                  <a:srgbClr val="FF0000"/>
                </a:solidFill>
                <a:cs typeface="Calibri" panose="020F0502020204030204" pitchFamily="34" charset="0"/>
              </a:rPr>
              <a:t>四捨五入</a:t>
            </a:r>
            <a:r>
              <a:rPr lang="zh-TW" altLang="zh-TW" sz="1999" kern="100" dirty="0">
                <a:cs typeface="Calibri" panose="020F0502020204030204" pitchFamily="34" charset="0"/>
              </a:rPr>
              <a:t>即可。</a:t>
            </a:r>
            <a:endParaRPr lang="zh-TW" altLang="zh-TW" sz="1999" kern="100" dirty="0">
              <a:cs typeface="Times New Roman" panose="02020603050405020304" pitchFamily="18" charset="0"/>
            </a:endParaRPr>
          </a:p>
          <a:p>
            <a:endParaRPr lang="zh-TW" altLang="en-US" sz="2399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389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D32F4-D986-FDBC-342E-4A111E379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400E95-B157-B1AD-93ED-5EA6AEC9D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n-ea"/>
                <a:ea typeface="+mn-ea"/>
              </a:rPr>
              <a:t>Sample</a:t>
            </a:r>
            <a:endParaRPr lang="zh-TW" altLang="en-US" b="1" dirty="0">
              <a:latin typeface="+mn-ea"/>
              <a:ea typeface="+mn-ea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D4C7A82-F227-7051-B0CB-4C8F95A13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1800" dirty="0"/>
              <a:t>輸入 </a:t>
            </a:r>
            <a:r>
              <a:rPr lang="en-US" altLang="zh-TW" sz="1800" dirty="0"/>
              <a:t>12 00</a:t>
            </a:r>
            <a:r>
              <a:rPr lang="zh-TW" altLang="en-US" sz="1800" dirty="0"/>
              <a:t>、</a:t>
            </a:r>
            <a:r>
              <a:rPr lang="en-US" altLang="zh-TW" sz="1800" dirty="0"/>
              <a:t>09 00</a:t>
            </a:r>
            <a:r>
              <a:rPr lang="zh-TW" altLang="en-US" sz="1800" dirty="0"/>
              <a:t>、</a:t>
            </a:r>
            <a:r>
              <a:rPr lang="en-US" altLang="zh-TW" sz="1800" dirty="0"/>
              <a:t>08 10</a:t>
            </a:r>
            <a:r>
              <a:rPr lang="zh-TW" altLang="en-US" sz="1800" dirty="0"/>
              <a:t>、</a:t>
            </a:r>
            <a:r>
              <a:rPr lang="en-US" altLang="zh-TW" sz="1800" dirty="0"/>
              <a:t>13 46</a:t>
            </a:r>
          </a:p>
          <a:p>
            <a:r>
              <a:rPr lang="zh-TW" altLang="en-US" sz="1800" dirty="0"/>
              <a:t>輸出各為</a:t>
            </a:r>
            <a:r>
              <a:rPr lang="en-US" altLang="zh-TW" sz="1800" dirty="0"/>
              <a:t>0</a:t>
            </a:r>
            <a:r>
              <a:rPr lang="zh-TW" altLang="en-US" sz="1800" dirty="0"/>
              <a:t>、</a:t>
            </a:r>
            <a:r>
              <a:rPr lang="en-US" altLang="zh-TW" sz="1800" dirty="0"/>
              <a:t>90</a:t>
            </a:r>
            <a:r>
              <a:rPr lang="zh-TW" altLang="en-US" sz="1800" dirty="0"/>
              <a:t>、</a:t>
            </a:r>
            <a:r>
              <a:rPr lang="en-US" altLang="zh-TW" sz="1800" dirty="0"/>
              <a:t>175</a:t>
            </a:r>
            <a:r>
              <a:rPr lang="zh-TW" altLang="en-US" sz="1800" dirty="0"/>
              <a:t>、</a:t>
            </a:r>
            <a:r>
              <a:rPr lang="en-US" altLang="zh-TW" sz="1800" dirty="0"/>
              <a:t>137</a:t>
            </a:r>
          </a:p>
          <a:p>
            <a:r>
              <a:rPr lang="zh-TW" altLang="en-US" sz="1800" dirty="0">
                <a:solidFill>
                  <a:srgbClr val="FF0000"/>
                </a:solidFill>
              </a:rPr>
              <a:t>程式要能持續輸入，輸入</a:t>
            </a:r>
            <a:r>
              <a:rPr lang="en-US" altLang="zh-TW" sz="1800" dirty="0">
                <a:solidFill>
                  <a:srgbClr val="FF0000"/>
                </a:solidFill>
              </a:rPr>
              <a:t>-1</a:t>
            </a:r>
            <a:r>
              <a:rPr lang="zh-TW" altLang="en-US" sz="1800" dirty="0">
                <a:solidFill>
                  <a:srgbClr val="FF0000"/>
                </a:solidFill>
              </a:rPr>
              <a:t>結束程式</a:t>
            </a:r>
            <a:endParaRPr lang="en-US" altLang="zh-TW" sz="1800" dirty="0">
              <a:solidFill>
                <a:srgbClr val="FF0000"/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2B6D22D-1DAE-4306-9F41-0B5045E1F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781" y="1241713"/>
            <a:ext cx="3791713" cy="4880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797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EA6D91-07D4-4A26-A613-5B25930E6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j-ea"/>
              </a:rPr>
              <a:t>HW2.</a:t>
            </a:r>
            <a:r>
              <a:rPr lang="zh-TW" altLang="en-US" b="1" dirty="0">
                <a:latin typeface="+mj-ea"/>
              </a:rPr>
              <a:t>派對邀請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C3C226-125B-48AA-B113-57C6E9AFA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Vincent</a:t>
            </a:r>
            <a:r>
              <a:rPr lang="zh-CN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Leo</a:t>
            </a:r>
            <a:r>
              <a:rPr lang="zh-CN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想邀請他們的朋友參加派對，他們請你寫一程式做到下列功能</a:t>
            </a:r>
            <a:endParaRPr lang="zh-TW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(a)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輸入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Vincent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的朋友名字清單</a:t>
            </a:r>
            <a:r>
              <a:rPr lang="zh-CN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，一行一個朋友。這些名字會儲存在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Vincent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的第一個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vector</a:t>
            </a:r>
            <a:r>
              <a:rPr lang="zh-CN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(push)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，輸入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表示結束輸入</a:t>
            </a:r>
            <a:r>
              <a:rPr lang="zh-CN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(b)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輸入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Leo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的朋友名字清單</a:t>
            </a:r>
            <a:r>
              <a:rPr lang="zh-CN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，一行一個朋友。這些名字會儲存在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Leo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的第二個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vector</a:t>
            </a:r>
            <a:r>
              <a:rPr lang="zh-CN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</a:t>
            </a:r>
            <a:r>
              <a:rPr lang="en-US" altLang="zh-CN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(push)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，輸入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表示結束輸入</a:t>
            </a:r>
            <a:r>
              <a:rPr lang="zh-CN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(c)</a:t>
            </a:r>
            <a:r>
              <a:rPr lang="zh-CN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合併兩個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人的朋友清單</a:t>
            </a:r>
            <a:r>
              <a:rPr lang="zh-CN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，刪除重複者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(pop)</a:t>
            </a:r>
            <a:r>
              <a:rPr lang="zh-CN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，並將結果放入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Invitee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的第三個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vector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</a:t>
            </a:r>
            <a:r>
              <a:rPr lang="zh-CN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Invitee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內的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element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輸出成要邀請的名單，</a:t>
            </a:r>
            <a:r>
              <a:rPr lang="zh-CN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一個朋友一行。</a:t>
            </a:r>
            <a:endParaRPr lang="en-US" altLang="zh-CN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備註：一定要用</a:t>
            </a:r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vector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，只能用</a:t>
            </a:r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vector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，用</a:t>
            </a:r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vector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以外的</a:t>
            </a:r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container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存取者會扣大分</a:t>
            </a:r>
            <a:endParaRPr lang="en-US" altLang="zh-TW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61040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EA6D91-07D4-4A26-A613-5B25930E6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n-ea"/>
                <a:ea typeface="+mn-ea"/>
              </a:rPr>
              <a:t>Sample</a:t>
            </a:r>
            <a:endParaRPr lang="zh-TW" altLang="en-US" b="1" dirty="0">
              <a:latin typeface="+mn-ea"/>
              <a:ea typeface="+mn-ea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95F5A370-1DAC-374C-EFE9-2254DE99D3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028" y="609600"/>
            <a:ext cx="5976946" cy="5804278"/>
          </a:xfrm>
        </p:spPr>
      </p:pic>
    </p:spTree>
    <p:extLst>
      <p:ext uri="{BB962C8B-B14F-4D97-AF65-F5344CB8AC3E}">
        <p14:creationId xmlns:p14="http://schemas.microsoft.com/office/powerpoint/2010/main" val="711884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多面向">
  <a:themeElements>
    <a:clrScheme name="多面向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佈景主題">
  <a:themeElements>
    <a:clrScheme name="BooksClassic_16x9">
      <a:dk1>
        <a:srgbClr val="6A3A20"/>
      </a:dk1>
      <a:lt1>
        <a:sysClr val="window" lastClr="FFFFFF"/>
      </a:lt1>
      <a:dk2>
        <a:srgbClr val="000000"/>
      </a:dk2>
      <a:lt2>
        <a:srgbClr val="FFEDB9"/>
      </a:lt2>
      <a:accent1>
        <a:srgbClr val="6A3A20"/>
      </a:accent1>
      <a:accent2>
        <a:srgbClr val="B4914C"/>
      </a:accent2>
      <a:accent3>
        <a:srgbClr val="610606"/>
      </a:accent3>
      <a:accent4>
        <a:srgbClr val="2B3742"/>
      </a:accent4>
      <a:accent5>
        <a:srgbClr val="787A41"/>
      </a:accent5>
      <a:accent6>
        <a:srgbClr val="B95E14"/>
      </a:accent6>
      <a:hlink>
        <a:srgbClr val="2B3742"/>
      </a:hlink>
      <a:folHlink>
        <a:srgbClr val="C1A56D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BooksClassic_16x9">
      <a:dk1>
        <a:srgbClr val="6A3A20"/>
      </a:dk1>
      <a:lt1>
        <a:sysClr val="window" lastClr="FFFFFF"/>
      </a:lt1>
      <a:dk2>
        <a:srgbClr val="000000"/>
      </a:dk2>
      <a:lt2>
        <a:srgbClr val="FFEDB9"/>
      </a:lt2>
      <a:accent1>
        <a:srgbClr val="6A3A20"/>
      </a:accent1>
      <a:accent2>
        <a:srgbClr val="B4914C"/>
      </a:accent2>
      <a:accent3>
        <a:srgbClr val="610606"/>
      </a:accent3>
      <a:accent4>
        <a:srgbClr val="2B3742"/>
      </a:accent4>
      <a:accent5>
        <a:srgbClr val="787A41"/>
      </a:accent5>
      <a:accent6>
        <a:srgbClr val="B95E14"/>
      </a:accent6>
      <a:hlink>
        <a:srgbClr val="2B3742"/>
      </a:hlink>
      <a:folHlink>
        <a:srgbClr val="C1A56D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false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1360476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2011-12-12T13:37:00+00:00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2035-01-01T08:00:00+00:00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TP102801058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706496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REDMOND\v-soujap</DisplayName>
        <AccountId>1954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14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D80E12-3BE9-4746-820E-FFB249F467F2}">
  <ds:schemaRefs>
    <ds:schemaRef ds:uri="http://purl.org/dc/dcmitype/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4873beb7-5857-4685-be1f-d57550cc96cc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D003AC8-209A-4321-A17C-1B7A206433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ED4759-CFDD-43F0-817C-11D9197192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73</TotalTime>
  <Words>291</Words>
  <Application>Microsoft Office PowerPoint</Application>
  <PresentationFormat>自訂</PresentationFormat>
  <Paragraphs>17</Paragraphs>
  <Slides>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3" baseType="lpstr">
      <vt:lpstr>細明體</vt:lpstr>
      <vt:lpstr>微軟正黑體</vt:lpstr>
      <vt:lpstr>Arial</vt:lpstr>
      <vt:lpstr>Calibri</vt:lpstr>
      <vt:lpstr>Times New Roman</vt:lpstr>
      <vt:lpstr>Trebuchet MS</vt:lpstr>
      <vt:lpstr>Wingdings 3</vt:lpstr>
      <vt:lpstr>多面向</vt:lpstr>
      <vt:lpstr>OOP 0430 題目</vt:lpstr>
      <vt:lpstr>HW1.時鐘短針長針角度</vt:lpstr>
      <vt:lpstr>Sample</vt:lpstr>
      <vt:lpstr>HW2.派對邀請</vt:lpstr>
      <vt:lpstr>Sample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0506</dc:title>
  <dc:creator>賀吉 蕭</dc:creator>
  <cp:lastModifiedBy>奎恩 黃</cp:lastModifiedBy>
  <cp:revision>12</cp:revision>
  <dcterms:created xsi:type="dcterms:W3CDTF">2021-05-05T12:06:10Z</dcterms:created>
  <dcterms:modified xsi:type="dcterms:W3CDTF">2026-04-30T01:29:52Z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